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7" r:id="rId5"/>
    <p:sldId id="298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240B3-8BAF-4825-8AA8-2D8958E52F60}" v="2" dt="2026-08-30T11:27:33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Dubal" userId="99595b21399aaf58" providerId="LiveId" clId="{DDD6FC52-B7EB-46EF-A774-5570B3DFD661}"/>
    <pc:docChg chg="undo redo custSel modSld">
      <pc:chgData name="Aditya Dubal" userId="99595b21399aaf58" providerId="LiveId" clId="{DDD6FC52-B7EB-46EF-A774-5570B3DFD661}" dt="2026-08-30T11:33:14.178" v="294" actId="1076"/>
      <pc:docMkLst>
        <pc:docMk/>
      </pc:docMkLst>
      <pc:sldChg chg="addSp delSp modSp mod">
        <pc:chgData name="Aditya Dubal" userId="99595b21399aaf58" providerId="LiveId" clId="{DDD6FC52-B7EB-46EF-A774-5570B3DFD661}" dt="2026-08-30T11:32:06.163" v="280" actId="14100"/>
        <pc:sldMkLst>
          <pc:docMk/>
          <pc:sldMk cId="0" sldId="281"/>
        </pc:sldMkLst>
        <pc:spChg chg="add del mod">
          <ac:chgData name="Aditya Dubal" userId="99595b21399aaf58" providerId="LiveId" clId="{DDD6FC52-B7EB-46EF-A774-5570B3DFD661}" dt="2026-08-30T11:28:27.418" v="227" actId="21"/>
          <ac:spMkLst>
            <pc:docMk/>
            <pc:sldMk cId="0" sldId="281"/>
            <ac:spMk id="2" creationId="{5DBCE864-823D-4A13-9607-5DA1F0ED5FB8}"/>
          </ac:spMkLst>
        </pc:spChg>
        <pc:spChg chg="add del">
          <ac:chgData name="Aditya Dubal" userId="99595b21399aaf58" providerId="LiveId" clId="{DDD6FC52-B7EB-46EF-A774-5570B3DFD661}" dt="2026-08-30T11:29:12.874" v="242" actId="21"/>
          <ac:spMkLst>
            <pc:docMk/>
            <pc:sldMk cId="0" sldId="281"/>
            <ac:spMk id="15" creationId="{00000000-0000-0000-0000-000000000000}"/>
          </ac:spMkLst>
        </pc:spChg>
        <pc:spChg chg="add del">
          <ac:chgData name="Aditya Dubal" userId="99595b21399aaf58" providerId="LiveId" clId="{DDD6FC52-B7EB-46EF-A774-5570B3DFD661}" dt="2026-08-30T11:29:12.348" v="239" actId="21"/>
          <ac:spMkLst>
            <pc:docMk/>
            <pc:sldMk cId="0" sldId="281"/>
            <ac:spMk id="17" creationId="{00000000-0000-0000-0000-000000000000}"/>
          </ac:spMkLst>
        </pc:spChg>
        <pc:spChg chg="add del">
          <ac:chgData name="Aditya Dubal" userId="99595b21399aaf58" providerId="LiveId" clId="{DDD6FC52-B7EB-46EF-A774-5570B3DFD661}" dt="2026-08-30T11:29:12.714" v="241" actId="21"/>
          <ac:spMkLst>
            <pc:docMk/>
            <pc:sldMk cId="0" sldId="281"/>
            <ac:spMk id="19" creationId="{00000000-0000-0000-0000-000000000000}"/>
          </ac:spMkLst>
        </pc:spChg>
        <pc:spChg chg="add del">
          <ac:chgData name="Aditya Dubal" userId="99595b21399aaf58" providerId="LiveId" clId="{DDD6FC52-B7EB-46EF-A774-5570B3DFD661}" dt="2026-08-30T11:29:12.529" v="240" actId="21"/>
          <ac:spMkLst>
            <pc:docMk/>
            <pc:sldMk cId="0" sldId="281"/>
            <ac:spMk id="37" creationId="{C3B2BA0F-3955-0ACA-FF59-2A54F7123A83}"/>
          </ac:spMkLst>
        </pc:spChg>
        <pc:picChg chg="add del mod">
          <ac:chgData name="Aditya Dubal" userId="99595b21399aaf58" providerId="LiveId" clId="{DDD6FC52-B7EB-46EF-A774-5570B3DFD661}" dt="2026-08-30T11:29:29.841" v="249" actId="22"/>
          <ac:picMkLst>
            <pc:docMk/>
            <pc:sldMk cId="0" sldId="281"/>
            <ac:picMk id="5" creationId="{0D4E53FB-998F-531E-54DB-01483AD12374}"/>
          </ac:picMkLst>
        </pc:picChg>
        <pc:picChg chg="add del mod ord">
          <ac:chgData name="Aditya Dubal" userId="99595b21399aaf58" providerId="LiveId" clId="{DDD6FC52-B7EB-46EF-A774-5570B3DFD661}" dt="2026-08-30T11:29:13.522" v="245" actId="166"/>
          <ac:picMkLst>
            <pc:docMk/>
            <pc:sldMk cId="0" sldId="281"/>
            <ac:picMk id="10" creationId="{CD26CF9D-7550-3C1B-0331-7D6C54D522F4}"/>
          </ac:picMkLst>
        </pc:picChg>
        <pc:picChg chg="add mod">
          <ac:chgData name="Aditya Dubal" userId="99595b21399aaf58" providerId="LiveId" clId="{DDD6FC52-B7EB-46EF-A774-5570B3DFD661}" dt="2026-08-30T11:30:50.253" v="261" actId="14100"/>
          <ac:picMkLst>
            <pc:docMk/>
            <pc:sldMk cId="0" sldId="281"/>
            <ac:picMk id="11" creationId="{BD007DB5-7B8C-26A1-3177-9F8771377927}"/>
          </ac:picMkLst>
        </pc:picChg>
        <pc:picChg chg="add mod">
          <ac:chgData name="Aditya Dubal" userId="99595b21399aaf58" providerId="LiveId" clId="{DDD6FC52-B7EB-46EF-A774-5570B3DFD661}" dt="2026-08-30T11:32:06.163" v="280" actId="14100"/>
          <ac:picMkLst>
            <pc:docMk/>
            <pc:sldMk cId="0" sldId="281"/>
            <ac:picMk id="22" creationId="{1CED06CB-6C0B-C323-525A-4669B8B1E0A7}"/>
          </ac:picMkLst>
        </pc:picChg>
      </pc:sldChg>
      <pc:sldChg chg="addSp modSp mod">
        <pc:chgData name="Aditya Dubal" userId="99595b21399aaf58" providerId="LiveId" clId="{DDD6FC52-B7EB-46EF-A774-5570B3DFD661}" dt="2026-08-30T11:32:16.660" v="282" actId="14100"/>
        <pc:sldMkLst>
          <pc:docMk/>
          <pc:sldMk cId="0" sldId="290"/>
        </pc:sldMkLst>
        <pc:picChg chg="add mod">
          <ac:chgData name="Aditya Dubal" userId="99595b21399aaf58" providerId="LiveId" clId="{DDD6FC52-B7EB-46EF-A774-5570B3DFD661}" dt="2026-08-30T11:32:16.660" v="282" actId="14100"/>
          <ac:picMkLst>
            <pc:docMk/>
            <pc:sldMk cId="0" sldId="290"/>
            <ac:picMk id="4" creationId="{DCB50FD5-0186-709E-F956-9575CEF5214B}"/>
          </ac:picMkLst>
        </pc:picChg>
      </pc:sldChg>
      <pc:sldChg chg="addSp modSp mod">
        <pc:chgData name="Aditya Dubal" userId="99595b21399aaf58" providerId="LiveId" clId="{DDD6FC52-B7EB-46EF-A774-5570B3DFD661}" dt="2026-08-30T11:33:14.178" v="294" actId="1076"/>
        <pc:sldMkLst>
          <pc:docMk/>
          <pc:sldMk cId="3916788613" sldId="296"/>
        </pc:sldMkLst>
        <pc:spChg chg="mod">
          <ac:chgData name="Aditya Dubal" userId="99595b21399aaf58" providerId="LiveId" clId="{DDD6FC52-B7EB-46EF-A774-5570B3DFD661}" dt="2026-08-30T11:33:09.500" v="292" actId="14100"/>
          <ac:spMkLst>
            <pc:docMk/>
            <pc:sldMk cId="3916788613" sldId="296"/>
            <ac:spMk id="13" creationId="{00000000-0000-0000-0000-000000000000}"/>
          </ac:spMkLst>
        </pc:spChg>
        <pc:picChg chg="add mod">
          <ac:chgData name="Aditya Dubal" userId="99595b21399aaf58" providerId="LiveId" clId="{DDD6FC52-B7EB-46EF-A774-5570B3DFD661}" dt="2026-08-30T11:33:14.178" v="294" actId="1076"/>
          <ac:picMkLst>
            <pc:docMk/>
            <pc:sldMk cId="3916788613" sldId="296"/>
            <ac:picMk id="4" creationId="{06A52A0E-222A-0D21-461E-A1F9AC80D938}"/>
          </ac:picMkLst>
        </pc:picChg>
      </pc:sldChg>
      <pc:sldChg chg="addSp delSp modSp mod">
        <pc:chgData name="Aditya Dubal" userId="99595b21399aaf58" providerId="LiveId" clId="{DDD6FC52-B7EB-46EF-A774-5570B3DFD661}" dt="2026-08-30T11:31:57.068" v="277" actId="1076"/>
        <pc:sldMkLst>
          <pc:docMk/>
          <pc:sldMk cId="297087486" sldId="297"/>
        </pc:sldMkLst>
        <pc:picChg chg="mod">
          <ac:chgData name="Aditya Dubal" userId="99595b21399aaf58" providerId="LiveId" clId="{DDD6FC52-B7EB-46EF-A774-5570B3DFD661}" dt="2026-08-30T11:31:57.068" v="277" actId="1076"/>
          <ac:picMkLst>
            <pc:docMk/>
            <pc:sldMk cId="297087486" sldId="297"/>
            <ac:picMk id="7" creationId="{1BA5FF42-CC0C-7631-DDC7-9878AD2F61B4}"/>
          </ac:picMkLst>
        </pc:picChg>
        <pc:picChg chg="add del mod">
          <ac:chgData name="Aditya Dubal" userId="99595b21399aaf58" providerId="LiveId" clId="{DDD6FC52-B7EB-46EF-A774-5570B3DFD661}" dt="2026-08-30T11:31:49.708" v="274" actId="478"/>
          <ac:picMkLst>
            <pc:docMk/>
            <pc:sldMk cId="297087486" sldId="297"/>
            <ac:picMk id="8" creationId="{E97BCDFA-83A6-454B-216D-57B013126D13}"/>
          </ac:picMkLst>
        </pc:picChg>
        <pc:picChg chg="add mod">
          <ac:chgData name="Aditya Dubal" userId="99595b21399aaf58" providerId="LiveId" clId="{DDD6FC52-B7EB-46EF-A774-5570B3DFD661}" dt="2026-08-30T11:31:56.420" v="276" actId="14100"/>
          <ac:picMkLst>
            <pc:docMk/>
            <pc:sldMk cId="297087486" sldId="297"/>
            <ac:picMk id="10" creationId="{48855C57-82C6-A578-9975-B92A06651240}"/>
          </ac:picMkLst>
        </pc:picChg>
      </pc:sldChg>
      <pc:sldChg chg="addSp modSp mod">
        <pc:chgData name="Aditya Dubal" userId="99595b21399aaf58" providerId="LiveId" clId="{DDD6FC52-B7EB-46EF-A774-5570B3DFD661}" dt="2026-08-30T11:32:34.386" v="285" actId="14100"/>
        <pc:sldMkLst>
          <pc:docMk/>
          <pc:sldMk cId="3916788613" sldId="298"/>
        </pc:sldMkLst>
        <pc:spChg chg="mod">
          <ac:chgData name="Aditya Dubal" userId="99595b21399aaf58" providerId="LiveId" clId="{DDD6FC52-B7EB-46EF-A774-5570B3DFD661}" dt="2026-08-30T10:10:28.142" v="191" actId="20577"/>
          <ac:spMkLst>
            <pc:docMk/>
            <pc:sldMk cId="3916788613" sldId="298"/>
            <ac:spMk id="51" creationId="{00000000-0000-0000-0000-000000000000}"/>
          </ac:spMkLst>
        </pc:spChg>
        <pc:picChg chg="add mod">
          <ac:chgData name="Aditya Dubal" userId="99595b21399aaf58" providerId="LiveId" clId="{DDD6FC52-B7EB-46EF-A774-5570B3DFD661}" dt="2026-08-30T11:32:34.386" v="285" actId="14100"/>
          <ac:picMkLst>
            <pc:docMk/>
            <pc:sldMk cId="3916788613" sldId="298"/>
            <ac:picMk id="4" creationId="{2734F880-7B59-75E5-402E-9915EC1105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3100" b="1">
                <a:solidFill>
                  <a:srgbClr val="1F4F79"/>
                </a:solidFill>
                <a:latin typeface="Aptos"/>
              </a:rPr>
              <a:t>THERMOSHELTER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sz="2500" b="1">
                <a:solidFill>
                  <a:srgbClr val="1F4F79"/>
                </a:solidFill>
                <a:latin typeface="Aptos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60350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2530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 Statement ID – SIH26051
Problem Statement Title – Software Based Model Development for Design of Area Specific Shelter for Thermal Comfort Maintenance
Theme – Agriculture, </a:t>
            </a:r>
            <a:r>
              <a:rPr sz="1600" b="1" dirty="0" err="1">
                <a:solidFill>
                  <a:srgbClr val="2530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FoodTech</a:t>
            </a:r>
            <a:r>
              <a:rPr sz="1600" b="1" dirty="0">
                <a:solidFill>
                  <a:srgbClr val="2530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&amp; Rural Development
PS Category – Software</a:t>
            </a:r>
            <a:br>
              <a:rPr lang="en-IN" sz="1600" b="1" dirty="0">
                <a:solidFill>
                  <a:srgbClr val="2530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b="1" dirty="0">
                <a:solidFill>
                  <a:srgbClr val="2530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Department-DRDO/IDEX</a:t>
            </a:r>
            <a:br>
              <a:rPr lang="en-IN" sz="1600" b="1" dirty="0">
                <a:solidFill>
                  <a:srgbClr val="25303A"/>
                </a:solidFill>
                <a:latin typeface="Aptos"/>
              </a:rPr>
            </a:b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D18A5F-BD29-EE9C-6D76-8D901AEB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62" y="74031"/>
            <a:ext cx="2050104" cy="10391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64DD1F49-625C-8809-D0C1-694562CD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7A03A03-33ED-E29E-C262-B3B23CF9D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7BD0DA53-C5E0-7B94-C8D3-185B07F52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" y="73152"/>
            <a:ext cx="109728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900" b="1" dirty="0">
                <a:solidFill>
                  <a:srgbClr val="1F4F79"/>
                </a:solidFill>
                <a:latin typeface="Aptos"/>
              </a:rPr>
              <a:t>THERMOSHELTER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600" b="1">
                <a:solidFill>
                  <a:srgbClr val="62707C"/>
                </a:solidFill>
                <a:latin typeface="Aptos"/>
              </a:rPr>
              <a:t>Area-Specific Digital Thermal Design &amp; Optimization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234440"/>
            <a:ext cx="3429000" cy="4251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481328"/>
            <a:ext cx="2971800" cy="29854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IN" sz="1700" b="1">
                <a:solidFill>
                  <a:srgbClr val="E67E22"/>
                </a:solidFill>
                <a:latin typeface="Aptos"/>
              </a:rPr>
              <a:t>IDEA</a:t>
            </a:r>
            <a:endParaRPr sz="170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1965960"/>
            <a:ext cx="2880360" cy="249914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 dirty="0">
                <a:solidFill>
                  <a:srgbClr val="25303A"/>
                </a:solidFill>
                <a:latin typeface="Aptos"/>
              </a:rPr>
              <a:t>A software model that takes climate, shelter and material inputs and predicts thermal performance </a:t>
            </a:r>
            <a:r>
              <a:rPr lang="en-IN" sz="2000" b="1" dirty="0">
                <a:solidFill>
                  <a:srgbClr val="25303A"/>
                </a:solidFill>
                <a:latin typeface="Aptos"/>
              </a:rPr>
              <a:t>after</a:t>
            </a:r>
            <a:r>
              <a:rPr sz="2000" b="1" dirty="0">
                <a:solidFill>
                  <a:srgbClr val="25303A"/>
                </a:solidFill>
                <a:latin typeface="Aptos"/>
              </a:rPr>
              <a:t> construction</a:t>
            </a:r>
            <a:r>
              <a:rPr lang="en-IN" sz="2000" b="1" dirty="0">
                <a:solidFill>
                  <a:srgbClr val="25303A"/>
                </a:solidFill>
                <a:latin typeface="Aptos"/>
              </a:rPr>
              <a:t> and suggests ideas to improve it </a:t>
            </a:r>
            <a:r>
              <a:rPr sz="2000" b="1" dirty="0">
                <a:solidFill>
                  <a:srgbClr val="25303A"/>
                </a:solidFill>
                <a:latin typeface="Apto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6542" y="1252724"/>
            <a:ext cx="3739644" cy="42336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96550" y="1489022"/>
            <a:ext cx="440485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600" b="1" dirty="0">
                <a:solidFill>
                  <a:srgbClr val="0070B4"/>
                </a:solidFill>
                <a:latin typeface="Aptos"/>
              </a:rPr>
              <a:t>HOW IT ADDRESSES 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057400"/>
            <a:ext cx="3444732" cy="1268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 dirty="0">
                <a:solidFill>
                  <a:srgbClr val="25303A"/>
                </a:solidFill>
                <a:latin typeface="Aptos"/>
              </a:rPr>
              <a:t>Instead of selecting a generic shelter, the user can test designs under the SAME local climate conditions</a:t>
            </a:r>
            <a:r>
              <a:rPr sz="1300" b="1" dirty="0">
                <a:solidFill>
                  <a:srgbClr val="25303A"/>
                </a:solidFill>
                <a:latin typeface="Aptos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1F4F79"/>
                </a:solidFill>
                <a:latin typeface="Aptos"/>
              </a:rPr>
              <a:t>Core idea: DESIGN → SIMULATE → COMPARE → OPTIMIZE → RECOMMEND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B2BA0F-3955-0ACA-FF59-2A54F7123A83}"/>
              </a:ext>
            </a:extLst>
          </p:cNvPr>
          <p:cNvSpPr txBox="1"/>
          <p:nvPr/>
        </p:nvSpPr>
        <p:spPr>
          <a:xfrm>
            <a:off x="822960" y="2971800"/>
            <a:ext cx="274320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br>
              <a:rPr lang="en-IN" sz="1200">
                <a:solidFill>
                  <a:srgbClr val="25303A"/>
                </a:solidFill>
                <a:latin typeface="Aptos"/>
              </a:rPr>
            </a:br>
            <a:br>
              <a:rPr lang="en-IN" sz="1200">
                <a:solidFill>
                  <a:srgbClr val="25303A"/>
                </a:solidFill>
                <a:latin typeface="Aptos"/>
              </a:rPr>
            </a:br>
            <a:endParaRPr sz="1200" b="0">
              <a:solidFill>
                <a:srgbClr val="25303A"/>
              </a:solidFill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18574-AF99-2BDC-7841-8C9820B2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399" y="-4453"/>
            <a:ext cx="2164814" cy="1097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26CF9D-7550-3C1B-0331-7D6C54D52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" y="22706"/>
            <a:ext cx="12191998" cy="63538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F16DB8-21C3-8DEA-2415-F53B4171A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227" y="75436"/>
            <a:ext cx="3153215" cy="116415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95F3C7-18E4-4B86-189D-56F6BF365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62" y="74031"/>
            <a:ext cx="2050104" cy="1039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007DB5-7B8C-26A1-3177-9F87713779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61" y="22706"/>
            <a:ext cx="702659" cy="4495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ED06CB-6C0B-C323-525A-4669B8B1E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915" y="30322"/>
            <a:ext cx="1423523" cy="10447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" y="73152"/>
            <a:ext cx="109728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900" b="1">
                <a:solidFill>
                  <a:srgbClr val="1F4F79"/>
                </a:solidFill>
                <a:latin typeface="Aptos"/>
              </a:rPr>
              <a:t>TECHNICAL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0">
                <a:solidFill>
                  <a:srgbClr val="62707C"/>
                </a:solidFill>
                <a:latin typeface="Aptos"/>
              </a:rPr>
              <a:t>A physics-based thermal model wrapped in a simple user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234440"/>
            <a:ext cx="18288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481328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E67E22"/>
                </a:solidFill>
                <a:latin typeface="Aptos"/>
              </a:rPr>
              <a:t>CLIMATE
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148132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0070B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79" y="1234440"/>
            <a:ext cx="18288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0070B4"/>
                </a:solidFill>
                <a:latin typeface="Aptos"/>
              </a:rPr>
              <a:t>SHELTER +
MATERIALS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148132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0070B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234440"/>
            <a:ext cx="18288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7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1481328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7915B"/>
                </a:solidFill>
                <a:latin typeface="Aptos"/>
              </a:rPr>
              <a:t>THERMAL
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48132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0070B4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1234440"/>
            <a:ext cx="18288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2359" y="1481328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E67E22"/>
                </a:solidFill>
                <a:latin typeface="Aptos"/>
              </a:rPr>
              <a:t>PARAMETRIC
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1481328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0070B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234440"/>
            <a:ext cx="18288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0" y="1481328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0070B4"/>
                </a:solidFill>
                <a:latin typeface="Aptos"/>
              </a:rPr>
              <a:t>RANKED
DESIGN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468880"/>
            <a:ext cx="5440680" cy="3063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2724912"/>
            <a:ext cx="49834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600" b="1">
                <a:solidFill>
                  <a:srgbClr val="0070B4"/>
                </a:solidFill>
                <a:latin typeface="Aptos"/>
              </a:rPr>
              <a:t>THERMAL MODEL / CALCULATIONS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18688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Aptos"/>
              </a:rPr>
              <a:t>Solar gain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218688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25303A"/>
                </a:solidFill>
                <a:latin typeface="Aptos"/>
              </a:rPr>
              <a:t>Qsolar = G × A × α × 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675887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0070B4"/>
                </a:solidFill>
                <a:latin typeface="Aptos"/>
              </a:rPr>
              <a:t>Envelope heat transfer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3675887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25303A"/>
                </a:solidFill>
                <a:latin typeface="Aptos"/>
              </a:rPr>
              <a:t>Q = U × A × ΔT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133087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27915B"/>
                </a:solidFill>
                <a:latin typeface="Aptos"/>
              </a:rPr>
              <a:t>Transient energy balance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133087"/>
            <a:ext cx="32461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25303A"/>
                </a:solidFill>
                <a:latin typeface="Aptos"/>
              </a:rPr>
              <a:t>Energy stored + gains − losses → Tinside(t)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09160"/>
            <a:ext cx="47091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dirty="0">
                <a:solidFill>
                  <a:srgbClr val="62707C"/>
                </a:solidFill>
                <a:latin typeface="Aptos"/>
              </a:rPr>
              <a:t>Also considers: conduction • convection • openings / infiltration • thermal mass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2468880"/>
            <a:ext cx="5669280" cy="3063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7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2724912"/>
            <a:ext cx="52120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600" b="1">
                <a:solidFill>
                  <a:srgbClr val="27915B"/>
                </a:solidFill>
                <a:latin typeface="Aptos"/>
              </a:rPr>
              <a:t>TECHNOLOGIES &amp; IMPLEMENTATION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200400"/>
            <a:ext cx="10515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Aptos"/>
              </a:rP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182112"/>
            <a:ext cx="38862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25303A"/>
                </a:solidFill>
                <a:latin typeface="Aptos"/>
              </a:rPr>
              <a:t>React / web dashboard for user inputs and result visualization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657600"/>
            <a:ext cx="10515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0070B4"/>
                </a:solidFill>
                <a:latin typeface="Aptos"/>
              </a:rPr>
              <a:t>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3639312"/>
            <a:ext cx="38862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25303A"/>
                </a:solidFill>
                <a:latin typeface="Aptos"/>
              </a:rPr>
              <a:t>Python + FastAPI; NumPy / SciPy for numerical calculations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114800"/>
            <a:ext cx="10515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27915B"/>
                </a:solidFill>
                <a:latin typeface="Aptos"/>
              </a:rPr>
              <a:t>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4096512"/>
            <a:ext cx="38862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25303A"/>
                </a:solidFill>
                <a:latin typeface="Aptos"/>
              </a:rPr>
              <a:t>ANSYS thermal model and/or measured sensor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572000"/>
            <a:ext cx="10515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Aptos"/>
              </a:rPr>
              <a:t>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4553712"/>
            <a:ext cx="38862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25303A"/>
                </a:solidFill>
                <a:latin typeface="Aptos"/>
              </a:rPr>
              <a:t>Weather API / local sensors + material-property database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029200"/>
            <a:ext cx="10515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0070B4"/>
                </a:solidFill>
                <a:latin typeface="Aptos"/>
              </a:rP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5010912"/>
            <a:ext cx="38862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25303A"/>
                </a:solidFill>
                <a:latin typeface="Aptos"/>
              </a:rPr>
              <a:t>Temperature profile + solar energy + heat flow + design score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7931E2-47A6-F1A7-86B7-8E4E64ABF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574" y="38100"/>
            <a:ext cx="2072148" cy="1109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DF8B44-561F-9648-F2CB-E050C57C3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" y="0"/>
            <a:ext cx="12183641" cy="6858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F963273-9C63-6392-65B4-C6C422471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64009"/>
            <a:ext cx="2396613" cy="78638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50303D0-EB24-3850-A53E-F9119573A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62" y="74031"/>
            <a:ext cx="2050104" cy="1039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B50FD5-0186-709E-F956-9575CEF52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0" y="63930"/>
            <a:ext cx="1198040" cy="879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3901-F330-1310-B4AC-0D7AF66E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Softwares</a:t>
            </a:r>
            <a:r>
              <a:rPr lang="en-IN" dirty="0"/>
              <a:t> we are </a:t>
            </a:r>
            <a:r>
              <a:rPr lang="en-IN" dirty="0" err="1"/>
              <a:t>gonna</a:t>
            </a:r>
            <a:r>
              <a:rPr lang="en-IN" dirty="0"/>
              <a:t> use</a:t>
            </a:r>
            <a:br>
              <a:rPr lang="en-IN" dirty="0"/>
            </a:br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75388-A87A-4958-71B3-E128CE14C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22555"/>
            <a:ext cx="10972800" cy="5103608"/>
          </a:xfrm>
        </p:spPr>
        <p:txBody>
          <a:bodyPr/>
          <a:lstStyle/>
          <a:p>
            <a:r>
              <a:rPr lang="en-IN" dirty="0"/>
              <a:t>1)capturing video-camera</a:t>
            </a:r>
            <a:br>
              <a:rPr lang="en-IN" dirty="0"/>
            </a:br>
            <a:r>
              <a:rPr lang="en-IN" dirty="0"/>
              <a:t>2)video-2d frames-</a:t>
            </a:r>
            <a:r>
              <a:rPr lang="en-IN" dirty="0" err="1"/>
              <a:t>Ffmpeg</a:t>
            </a:r>
            <a:br>
              <a:rPr lang="en-IN" dirty="0"/>
            </a:br>
            <a:r>
              <a:rPr lang="en-IN" dirty="0"/>
              <a:t>3)constructing the 3d modell-Meshroom,blender,Fusion360,etc</a:t>
            </a:r>
            <a:br>
              <a:rPr lang="en-IN" dirty="0"/>
            </a:br>
            <a:r>
              <a:rPr lang="en-IN" dirty="0"/>
              <a:t>4)Mesh Cleanup(filling holes )-</a:t>
            </a:r>
            <a:r>
              <a:rPr lang="en-IN" dirty="0" err="1"/>
              <a:t>Meshlab</a:t>
            </a:r>
            <a:br>
              <a:rPr lang="en-IN" dirty="0"/>
            </a:br>
            <a:r>
              <a:rPr lang="en-IN" dirty="0"/>
              <a:t>4)Identifying type of material-</a:t>
            </a:r>
            <a:r>
              <a:rPr lang="en-IN" b="1" dirty="0"/>
              <a:t>MINC / MINC-2500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 err="1"/>
              <a:t>kyotovision</a:t>
            </a:r>
            <a:r>
              <a:rPr lang="en-IN" dirty="0"/>
              <a:t>-public/multimodal-material-segmentation,</a:t>
            </a:r>
            <a:br>
              <a:rPr lang="en-IN" dirty="0"/>
            </a:br>
            <a:r>
              <a:rPr lang="en-IN" b="1" dirty="0"/>
              <a:t>beric7/</a:t>
            </a:r>
            <a:r>
              <a:rPr lang="en-IN" b="1" dirty="0" err="1"/>
              <a:t>material_segmentation</a:t>
            </a:r>
            <a:r>
              <a:rPr lang="en-IN" dirty="0"/>
              <a:t>  etc.</a:t>
            </a:r>
            <a:br>
              <a:rPr lang="en-IN" dirty="0"/>
            </a:br>
            <a:r>
              <a:rPr lang="en-IN" dirty="0"/>
              <a:t>5)Testing the </a:t>
            </a:r>
            <a:r>
              <a:rPr lang="en-IN" dirty="0" err="1"/>
              <a:t>modell</a:t>
            </a:r>
            <a:r>
              <a:rPr lang="en-IN" dirty="0"/>
              <a:t>-SALOME, </a:t>
            </a:r>
            <a:r>
              <a:rPr lang="en-IN" dirty="0" err="1"/>
              <a:t>OpenFOAM</a:t>
            </a:r>
            <a:br>
              <a:rPr lang="en-IN" dirty="0"/>
            </a:br>
            <a:r>
              <a:rPr lang="en-IN" dirty="0"/>
              <a:t>6)weather conditions and geographical location data-weather </a:t>
            </a:r>
            <a:r>
              <a:rPr lang="en-IN" dirty="0" err="1"/>
              <a:t>app,Google</a:t>
            </a:r>
            <a:r>
              <a:rPr lang="en-IN" dirty="0"/>
              <a:t> maps,</a:t>
            </a:r>
            <a:br>
              <a:rPr lang="en-IN" dirty="0"/>
            </a:br>
            <a:r>
              <a:rPr lang="en-IN" dirty="0"/>
              <a:t>7)Suggesting Improvements- AI </a:t>
            </a:r>
            <a:r>
              <a:rPr lang="en-IN" dirty="0" err="1"/>
              <a:t>softwares</a:t>
            </a:r>
            <a:r>
              <a:rPr lang="en-IN" dirty="0"/>
              <a:t> like </a:t>
            </a:r>
            <a:r>
              <a:rPr lang="en-IN" dirty="0" err="1"/>
              <a:t>Claud,Chat</a:t>
            </a:r>
            <a:r>
              <a:rPr lang="en-IN" dirty="0"/>
              <a:t> </a:t>
            </a:r>
            <a:r>
              <a:rPr lang="en-IN" dirty="0" err="1"/>
              <a:t>gpt</a:t>
            </a:r>
            <a:r>
              <a:rPr lang="en-IN" dirty="0"/>
              <a:t> etc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E347E-7B76-D875-EB42-1F1AFF482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71CED-9D60-2213-2856-53E0609B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5FF42-CC0C-7631-DDC7-9878AD2F6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9815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14EBF2-E99D-54B2-9179-E3993C759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489" y="-839927"/>
            <a:ext cx="2534004" cy="2708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F58D36-077C-D171-3208-2094D89F7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731" y="0"/>
            <a:ext cx="3153215" cy="609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A0ACB2-D593-31DF-F770-72FB4B95A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245" y="27184"/>
            <a:ext cx="2063416" cy="94852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9013283-E961-3144-1023-A7EFA1082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5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855C57-82C6-A578-9975-B92A06651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600" y="39815"/>
            <a:ext cx="1044138" cy="7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" y="73152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900" b="1">
                <a:solidFill>
                  <a:srgbClr val="1F4F79"/>
                </a:solidFill>
                <a:latin typeface="Aptos"/>
              </a:rPr>
              <a:t>FEASIBILITY, VIABILITY &amp;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>
                <a:solidFill>
                  <a:srgbClr val="62707C"/>
                </a:solidFill>
                <a:latin typeface="Aptos"/>
              </a:rPr>
              <a:t>Can it be built, who it’s for, and the value it creates</a:t>
            </a:r>
          </a:p>
        </p:txBody>
      </p:sp>
      <p:sp>
        <p:nvSpPr>
          <p:cNvPr id="40" name="Rounded Rectangle 40"/>
          <p:cNvSpPr/>
          <p:nvPr/>
        </p:nvSpPr>
        <p:spPr>
          <a:xfrm>
            <a:off x="502920" y="1234440"/>
            <a:ext cx="11155680" cy="64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685800" y="1411815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8720" y="1334667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FEASIBILITY &amp; VIABILITY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43400" y="1326967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25303A"/>
                </a:solidFill>
                <a:latin typeface="Aptos"/>
              </a:rPr>
              <a:t>Built on established physics and proven open-source tools (Python/FastAPI, NumPy/SciPy, OpenFOAM/SALOME); runs as a lightweight web tool usable by planners and field engineers with no specialised training.</a:t>
            </a:r>
          </a:p>
        </p:txBody>
      </p:sp>
      <p:sp>
        <p:nvSpPr>
          <p:cNvPr id="44" name="Rounded Rectangle 44"/>
          <p:cNvSpPr/>
          <p:nvPr/>
        </p:nvSpPr>
        <p:spPr>
          <a:xfrm>
            <a:off x="502920" y="1984440"/>
            <a:ext cx="11155680" cy="64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85800" y="2161815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88720" y="2084667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TARGET AUDIENCE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43400" y="2076967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25303A"/>
                </a:solidFill>
                <a:latin typeface="Aptos"/>
              </a:rPr>
              <a:t>Armed forces personnel at remote, high-altitude posts; campers and outdoor/expedition groups; and everyday rural households — anyone who needs a shelter built for their exact local climate.</a:t>
            </a:r>
          </a:p>
        </p:txBody>
      </p:sp>
      <p:sp>
        <p:nvSpPr>
          <p:cNvPr id="48" name="Rounded Rectangle 48"/>
          <p:cNvSpPr/>
          <p:nvPr/>
        </p:nvSpPr>
        <p:spPr>
          <a:xfrm>
            <a:off x="502920" y="2734440"/>
            <a:ext cx="11155680" cy="64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685800" y="2911815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88720" y="2834667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KEY CHALLENGES &amp; RISKS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53232" y="2826967"/>
            <a:ext cx="699516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000" dirty="0">
                <a:solidFill>
                  <a:srgbClr val="25303A"/>
                </a:solidFill>
                <a:latin typeface="Aptos"/>
              </a:rPr>
              <a:t>Requirement of  pipeline structure that connects all the </a:t>
            </a:r>
            <a:r>
              <a:rPr lang="en-US" sz="1000" dirty="0" err="1">
                <a:solidFill>
                  <a:srgbClr val="25303A"/>
                </a:solidFill>
                <a:latin typeface="Aptos"/>
              </a:rPr>
              <a:t>softwares</a:t>
            </a:r>
            <a:r>
              <a:rPr lang="en-US" sz="1000" dirty="0">
                <a:solidFill>
                  <a:srgbClr val="25303A"/>
                </a:solidFill>
                <a:latin typeface="Aptos"/>
              </a:rPr>
              <a:t> and runs automatically to give results.</a:t>
            </a:r>
            <a:endParaRPr lang="en-US" sz="1000" b="0" dirty="0">
              <a:solidFill>
                <a:srgbClr val="25303A"/>
              </a:solidFill>
              <a:latin typeface="Aptos"/>
            </a:endParaRPr>
          </a:p>
        </p:txBody>
      </p:sp>
      <p:sp>
        <p:nvSpPr>
          <p:cNvPr id="52" name="Rounded Rectangle 52"/>
          <p:cNvSpPr/>
          <p:nvPr/>
        </p:nvSpPr>
        <p:spPr>
          <a:xfrm>
            <a:off x="502920" y="3484440"/>
            <a:ext cx="11155680" cy="64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685800" y="3661815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88720" y="3584667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MITIGATION STRATEGIES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43400" y="3576967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25303A"/>
                </a:solidFill>
                <a:latin typeface="Aptos"/>
              </a:rPr>
              <a:t>Phased validation benchmarked against ANSYS, an open user-editable material database, and calibration against real Ladakh weather-station data before scaling up.</a:t>
            </a:r>
          </a:p>
        </p:txBody>
      </p:sp>
      <p:sp>
        <p:nvSpPr>
          <p:cNvPr id="56" name="Rounded Rectangle 56"/>
          <p:cNvSpPr/>
          <p:nvPr/>
        </p:nvSpPr>
        <p:spPr>
          <a:xfrm>
            <a:off x="502920" y="4234440"/>
            <a:ext cx="11155680" cy="64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685800" y="4411815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88720" y="4334667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SOCIAL &amp; ECONOMIC IMPACT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343400" y="4326967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25303A"/>
                </a:solidFill>
                <a:latin typeface="Aptos"/>
              </a:rPr>
              <a:t>Safer, more comfortable shelters that reduce cold-related health risks; cuts construction cost via optimised upfront design and lowers long-term heating/energy costs.</a:t>
            </a:r>
          </a:p>
        </p:txBody>
      </p:sp>
      <p:sp>
        <p:nvSpPr>
          <p:cNvPr id="60" name="Rounded Rectangle 60"/>
          <p:cNvSpPr/>
          <p:nvPr/>
        </p:nvSpPr>
        <p:spPr>
          <a:xfrm>
            <a:off x="502920" y="4984440"/>
            <a:ext cx="11155680" cy="64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1"/>
          <p:cNvSpPr txBox="1"/>
          <p:nvPr/>
        </p:nvSpPr>
        <p:spPr>
          <a:xfrm>
            <a:off x="685800" y="5161815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06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88720" y="5084667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ENVIRONMENTAL IMPACT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343400" y="5076967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25303A"/>
                </a:solidFill>
                <a:latin typeface="Aptos"/>
              </a:rPr>
              <a:t>Reduces energy consumption and fuel use for heating, and cuts material waste by right-sizing insulation and design to the local climate.</a:t>
            </a:r>
          </a:p>
        </p:txBody>
      </p:sp>
      <p:sp>
        <p:nvSpPr>
          <p:cNvPr id="64" name="Rounded Rectangle 64"/>
          <p:cNvSpPr/>
          <p:nvPr/>
        </p:nvSpPr>
        <p:spPr>
          <a:xfrm>
            <a:off x="914400" y="5754440"/>
            <a:ext cx="10332720" cy="438912"/>
          </a:xfrm>
          <a:prstGeom prst="roundRect">
            <a:avLst/>
          </a:prstGeom>
          <a:solidFill>
            <a:srgbClr val="EDF8F1"/>
          </a:solidFill>
          <a:ln w="13970">
            <a:solidFill>
              <a:srgbClr val="27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1051560" y="5855024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1">
                <a:solidFill>
                  <a:srgbClr val="27915B"/>
                </a:solidFill>
                <a:latin typeface="Aptos"/>
              </a:rPr>
              <a:t>Overall: technically feasible with existing tools, serves army posts, campers and rural households alike, and directly cuts cost, risk and environmental footprint.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4D7FE-B65A-71AD-D8B0-706B47FB5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62" y="74031"/>
            <a:ext cx="2050104" cy="1039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34F880-7B59-75E5-402E-9915EC110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62" y="74777"/>
            <a:ext cx="1402916" cy="102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" y="73152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900" b="1" dirty="0">
                <a:solidFill>
                  <a:srgbClr val="1F4F79"/>
                </a:solidFill>
                <a:latin typeface="Aptos"/>
              </a:rPr>
              <a:t>RESEARCH AND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31520"/>
            <a:ext cx="945076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dirty="0">
                <a:solidFill>
                  <a:srgbClr val="62707C"/>
                </a:solidFill>
                <a:latin typeface="Aptos"/>
              </a:rPr>
              <a:t>Problem-statement requirements and technical basis for the proposed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34440"/>
            <a:ext cx="1115568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444752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353312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SMART INDIA HACKATHON 2026 — SIH26051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344168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25303A"/>
                </a:solidFill>
                <a:latin typeface="Aptos"/>
              </a:rPr>
              <a:t>Problem statement: Software Based Model Development for Design of Area Specific Shelter for Thermal Comfort Maintenance; Organization: DRDO.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130552"/>
            <a:ext cx="1115568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340864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249424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SIH26051 — REQUIRED MODEL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240280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25303A"/>
                </a:solidFill>
                <a:latin typeface="Aptos"/>
              </a:rPr>
              <a:t>Internal shelter temperature, solar thermal energy generated, and heat-flow calculations for a defined period.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026664"/>
            <a:ext cx="1115568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236976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145536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SIH26051 — DESIGN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36392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25303A"/>
                </a:solidFill>
                <a:latin typeface="Aptos"/>
              </a:rPr>
              <a:t>User-defined atmospheric conditions, shelter dimensions/shape, orientation, wall/roof materials, insulation, openings, thermal mass / PCM and composite materials.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922776"/>
            <a:ext cx="1115568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133088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041648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SIH26051 — LADAKH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032504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25303A"/>
                </a:solidFill>
                <a:latin typeface="Aptos"/>
              </a:rPr>
              <a:t>Problem statement highlights high solar irradiance, long sunshine duration and severe temperature variation as the design opportunity.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18888"/>
            <a:ext cx="1115568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029200"/>
            <a:ext cx="38404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937759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4F79"/>
                </a:solidFill>
                <a:latin typeface="Aptos"/>
              </a:rPr>
              <a:t>PROPOSED TECHNICAL BASIS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928616"/>
            <a:ext cx="6995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25303A"/>
                </a:solidFill>
                <a:latin typeface="Aptos"/>
              </a:rPr>
              <a:t>Parametric thermal simulation, material-property modelling, energy-balance calculations and automated design comparison; validation recommended using ANSYS and/or measured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687568"/>
            <a:ext cx="10332720" cy="438912"/>
          </a:xfrm>
          <a:prstGeom prst="roundRect">
            <a:avLst/>
          </a:prstGeom>
          <a:solidFill>
            <a:srgbClr val="EDF8F1"/>
          </a:solidFill>
          <a:ln w="13970">
            <a:solidFill>
              <a:srgbClr val="27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578815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1">
                <a:solidFill>
                  <a:srgbClr val="27915B"/>
                </a:solidFill>
                <a:latin typeface="Aptos"/>
              </a:rPr>
              <a:t>Reference: Official SIH problem statement / SIH portal • Technical equations shown are proposed modelling choices, not official prescribed equations.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4D7FE-B65A-71AD-D8B0-706B47FB5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62" y="74031"/>
            <a:ext cx="2050104" cy="1039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A52A0E-222A-0D21-461E-A1F9AC80D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564" y="193057"/>
            <a:ext cx="1253698" cy="92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769</Words>
  <Application>Microsoft Office PowerPoint</Application>
  <PresentationFormat>Widescreen</PresentationFormat>
  <Paragraphs>91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Segoe UI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Softwares we are gonna use .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Dubal</cp:lastModifiedBy>
  <cp:revision>7</cp:revision>
  <dcterms:created xsi:type="dcterms:W3CDTF">2013-12-12T18:46:50Z</dcterms:created>
  <dcterms:modified xsi:type="dcterms:W3CDTF">2026-08-30T11:33:22Z</dcterms:modified>
  <cp:category/>
</cp:coreProperties>
</file>